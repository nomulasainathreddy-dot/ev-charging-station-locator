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8"/>
  </p:notesMasterIdLst>
  <p:handoutMasterIdLst>
    <p:handoutMasterId r:id="rId19"/>
  </p:handoutMasterIdLst>
  <p:sldIdLst>
    <p:sldId id="261" r:id="rId3"/>
    <p:sldId id="314" r:id="rId4"/>
    <p:sldId id="322" r:id="rId5"/>
    <p:sldId id="323" r:id="rId6"/>
    <p:sldId id="266" r:id="rId7"/>
    <p:sldId id="341" r:id="rId8"/>
    <p:sldId id="342" r:id="rId9"/>
    <p:sldId id="343" r:id="rId10"/>
    <p:sldId id="344" r:id="rId11"/>
    <p:sldId id="345" r:id="rId12"/>
    <p:sldId id="346" r:id="rId13"/>
    <p:sldId id="340" r:id="rId14"/>
    <p:sldId id="347" r:id="rId15"/>
    <p:sldId id="348" r:id="rId16"/>
    <p:sldId id="33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82"/>
    <p:restoredTop sz="95833"/>
  </p:normalViewPr>
  <p:slideViewPr>
    <p:cSldViewPr snapToGrid="0" snapToObjects="1">
      <p:cViewPr varScale="1">
        <p:scale>
          <a:sx n="89" d="100"/>
          <a:sy n="89" d="100"/>
        </p:scale>
        <p:origin x="254" y="7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3/9/2026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09-03-2026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09-03-2026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09-03-2026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09-03-2026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09-03-2026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09-03-2026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09-03-2026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09-03-2026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09-03-2026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09-03-2026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09-03-2026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09-03-2026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09-03-2026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09-03-2026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09-03-2026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09-03-2026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09-03-2026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INSTRUCTIONS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92500" lnSpcReduction="10000"/>
          </a:bodyPr>
          <a:lstStyle/>
          <a:p>
            <a:r>
              <a:rPr lang="en-IN"/>
              <a:t>Use </a:t>
            </a:r>
            <a:r>
              <a:rPr lang="en-IN" dirty="0"/>
              <a:t>Font size 22 to 28 and Font Style </a:t>
            </a:r>
            <a:r>
              <a:rPr lang="en-IN" b="0" i="0" dirty="0">
                <a:solidFill>
                  <a:srgbClr val="0A0A0A"/>
                </a:solidFill>
                <a:effectLst/>
                <a:latin typeface="Google Sans"/>
              </a:rPr>
              <a:t>Times New Roman </a:t>
            </a:r>
            <a:r>
              <a:rPr lang="en-IN" dirty="0"/>
              <a:t>(body)</a:t>
            </a:r>
          </a:p>
          <a:p>
            <a:r>
              <a:rPr lang="en-IN" dirty="0"/>
              <a:t>Do not change the Template: Heading / Title of the slides</a:t>
            </a:r>
          </a:p>
          <a:p>
            <a:r>
              <a:rPr lang="en-IN" dirty="0"/>
              <a:t>Do not change font style or colours</a:t>
            </a:r>
          </a:p>
          <a:p>
            <a:r>
              <a:rPr lang="en-IN" dirty="0"/>
              <a:t>Do not copy paste paragraphs: use only Bullet Points</a:t>
            </a:r>
          </a:p>
          <a:p>
            <a:r>
              <a:rPr lang="en-IN" dirty="0"/>
              <a:t>Maximum slide Limit is 20 only</a:t>
            </a:r>
          </a:p>
          <a:p>
            <a:r>
              <a:rPr lang="en-IN" dirty="0"/>
              <a:t>As per the number of supervisor allotted adopt slide-2 or slide-3</a:t>
            </a:r>
          </a:p>
          <a:p>
            <a:r>
              <a:rPr lang="en-IN" dirty="0"/>
              <a:t>Please display the required meaningful Content or images or tables </a:t>
            </a:r>
          </a:p>
          <a:p>
            <a:r>
              <a:rPr lang="en-IN" dirty="0"/>
              <a:t>Change the footer accordingly using insert tab then click on header &amp; footer tab and edit it</a:t>
            </a:r>
          </a:p>
          <a:p>
            <a:r>
              <a:rPr lang="en-IN" dirty="0"/>
              <a:t>Save the PPT with Register No, Dept and Review no,  example: </a:t>
            </a:r>
            <a:r>
              <a:rPr lang="en-US" dirty="0"/>
              <a:t>23xxxxxxxxx_CSE</a:t>
            </a:r>
            <a:endParaRPr lang="en-IN"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9ADE338F-74DD-D142-8C58-9E4C5E66F6E8}"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2851391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EV Charging Station Locator</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41504"/>
            <a:ext cx="10515600" cy="1097555"/>
          </a:xfrm>
        </p:spPr>
        <p:txBody>
          <a:bodyPr>
            <a:normAutofit fontScale="25000" lnSpcReduction="20000"/>
          </a:bodyPr>
          <a:lstStyle/>
          <a:p>
            <a:pPr marL="0" indent="0" algn="ctr">
              <a:buNone/>
            </a:pPr>
            <a:r>
              <a:rPr lang="en-US" sz="9600" dirty="0"/>
              <a:t>Student Name: </a:t>
            </a:r>
            <a:r>
              <a:rPr lang="en-US" sz="9600" dirty="0" err="1"/>
              <a:t>Nomula</a:t>
            </a:r>
            <a:r>
              <a:rPr lang="en-US" sz="9600" dirty="0"/>
              <a:t> Sainath reddy</a:t>
            </a:r>
          </a:p>
          <a:p>
            <a:pPr marL="0" indent="0" algn="ctr">
              <a:buNone/>
            </a:pPr>
            <a:r>
              <a:rPr lang="en-US" sz="9600" dirty="0"/>
              <a:t>Student ID: 2520090115</a:t>
            </a:r>
            <a:endParaRPr lang="en-US" sz="2400" dirty="0"/>
          </a:p>
          <a:p>
            <a:pPr marL="0" indent="0" algn="ctr">
              <a:buNone/>
            </a:pPr>
            <a:r>
              <a:rPr lang="en-US" sz="11200" dirty="0"/>
              <a:t>Cluster:3</a:t>
            </a:r>
          </a:p>
          <a:p>
            <a:pPr marL="0" indent="0" algn="ctr">
              <a:buNone/>
            </a:pPr>
            <a:r>
              <a:rPr lang="en-US" sz="11200" dirty="0"/>
              <a:t>Section:10</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09-03-2026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119430"/>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Jayaram Boga</a:t>
            </a: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r>
              <a:rPr lang="en-US" sz="2400" dirty="0">
                <a:solidFill>
                  <a:srgbClr val="00B050"/>
                </a:solidFill>
              </a:rPr>
              <a:t> </a:t>
            </a:r>
            <a:r>
              <a:rPr lang="en-US" sz="2400" dirty="0" err="1">
                <a:solidFill>
                  <a:srgbClr val="00B050"/>
                </a:solidFill>
              </a:rPr>
              <a:t>bo</a:t>
            </a: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1017016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326239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r>
              <a:rPr lang="en-US" dirty="0"/>
              <a:t>The </a:t>
            </a:r>
            <a:r>
              <a:rPr lang="en-US" b="1" dirty="0"/>
              <a:t>EV Charging Station Locator</a:t>
            </a:r>
            <a:r>
              <a:rPr lang="en-US" dirty="0"/>
              <a:t> is a web-based application developed using HTML and CSS to help electric vehicle (EV) users easily find nearby charging stations. With the rapid increase in the adoption of electric vehicles, the availability and accessibility of charging infrastructure have become major concerns for users. This project aims to provide a simple and organized platform where users can view information about charging stations such as location, charging type, availability status, and contact details. By presenting the information in a structured and easy-to-read format, the system reduces the difficulty faced by EV owners in locating suitable charging points.</a:t>
            </a:r>
            <a:endParaRPr lang="en-IN" dirty="0"/>
          </a:p>
          <a:p>
            <a:endParaRPr lang="en-US"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2715783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marL="457200" lvl="1" indent="-339725" algn="just"/>
            <a:r>
              <a:rPr lang="en-US" dirty="0"/>
              <a:t>The current system for finding EV charging stations is mostly manual and inefficient. Users rely on general map services like Google Maps to search for charging stations, which often do not provide real-time availability, pricing details, or charger types. Many users face difficulties locating nearby charging stations quickly, especially when traveling in unfamiliar areas. Additionally, existing systems lack proper filtering options, booking facilities, and intelligent recommendations, which can lead to long waiting times and inconvenience for EV users.</a:t>
            </a:r>
          </a:p>
          <a:p>
            <a:pPr marL="457200" lvl="1" indent="-339725" algn="just"/>
            <a:endParaRPr lang="en-US" dirty="0"/>
          </a:p>
          <a:p>
            <a:pPr marL="457200" lvl="1" indent="-339725" algn="just"/>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930833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9" name="Content Placeholder 8">
            <a:extLst>
              <a:ext uri="{FF2B5EF4-FFF2-40B4-BE49-F238E27FC236}">
                <a16:creationId xmlns:a16="http://schemas.microsoft.com/office/drawing/2014/main" id="{89135224-75FA-6942-7E71-50A315519F9D}"/>
              </a:ext>
            </a:extLst>
          </p:cNvPr>
          <p:cNvSpPr>
            <a:spLocks noGrp="1"/>
          </p:cNvSpPr>
          <p:nvPr>
            <p:ph idx="1"/>
          </p:nvPr>
        </p:nvSpPr>
        <p:spPr/>
        <p:txBody>
          <a:bodyPr>
            <a:normAutofit/>
          </a:bodyPr>
          <a:lstStyle/>
          <a:p>
            <a:r>
              <a:rPr lang="en-US" dirty="0"/>
              <a:t>The proposed system is a </a:t>
            </a:r>
            <a:r>
              <a:rPr lang="en-US" b="1" dirty="0"/>
              <a:t>web-based EV Charging Station Locator</a:t>
            </a:r>
            <a:r>
              <a:rPr lang="en-US" dirty="0"/>
              <a:t> that helps users easily find and access nearby charging stations. The system provides detailed information such as station location, charging power, price per kWh, availability status, and supported connector types. It integrates map visualization using Leaflet and applies smart filtering and recommendation features to help users choose the best station. The platform also allows users to book charging slots and view station details, making the charging process faster, easier, and more efficient.</a:t>
            </a:r>
          </a:p>
          <a:p>
            <a:endParaRPr lang="en-US" dirty="0"/>
          </a:p>
          <a:p>
            <a:endParaRPr lang="en-US" dirty="0"/>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3205484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9" name="Content Placeholder 8">
            <a:extLst>
              <a:ext uri="{FF2B5EF4-FFF2-40B4-BE49-F238E27FC236}">
                <a16:creationId xmlns:a16="http://schemas.microsoft.com/office/drawing/2014/main" id="{BB15296F-156D-BE47-727B-C34C7CDD40D4}"/>
              </a:ext>
            </a:extLst>
          </p:cNvPr>
          <p:cNvSpPr>
            <a:spLocks noGrp="1"/>
          </p:cNvSpPr>
          <p:nvPr>
            <p:ph idx="1"/>
          </p:nvPr>
        </p:nvSpPr>
        <p:spPr/>
        <p:txBody>
          <a:bodyPr>
            <a:normAutofit fontScale="85000" lnSpcReduction="10000"/>
          </a:bodyPr>
          <a:lstStyle/>
          <a:p>
            <a:r>
              <a:rPr lang="en-IN" dirty="0"/>
              <a:t>The system follows a </a:t>
            </a:r>
            <a:r>
              <a:rPr lang="en-IN" b="1" dirty="0"/>
              <a:t>three-layer architecture</a:t>
            </a:r>
            <a:r>
              <a:rPr lang="en-IN" dirty="0"/>
              <a:t>:</a:t>
            </a:r>
          </a:p>
          <a:p>
            <a:r>
              <a:rPr lang="en-IN" b="1" dirty="0"/>
              <a:t>1. Presentation Layer (Frontend)</a:t>
            </a:r>
            <a:endParaRPr lang="en-IN" dirty="0"/>
          </a:p>
          <a:p>
            <a:r>
              <a:rPr lang="en-IN" dirty="0"/>
              <a:t>Developed using HTML, CSS, and JavaScript</a:t>
            </a:r>
          </a:p>
          <a:p>
            <a:r>
              <a:rPr lang="en-IN" dirty="0"/>
              <a:t>Provides user interface for searching stations, filtering results, and booking slots.</a:t>
            </a:r>
          </a:p>
          <a:p>
            <a:r>
              <a:rPr lang="en-IN" b="1" dirty="0"/>
              <a:t>2. Application Layer (Logic Layer)</a:t>
            </a:r>
            <a:endParaRPr lang="en-IN" dirty="0"/>
          </a:p>
          <a:p>
            <a:r>
              <a:rPr lang="en-IN" dirty="0"/>
              <a:t>Handles search, filtering, sorting, and station recommendation logic.</a:t>
            </a:r>
          </a:p>
          <a:p>
            <a:r>
              <a:rPr lang="en-IN" dirty="0"/>
              <a:t>Implements algorithms such as Dijkstra's Algorithm for route optimization.</a:t>
            </a:r>
          </a:p>
          <a:p>
            <a:r>
              <a:rPr lang="en-IN" b="1" dirty="0"/>
              <a:t>3. Data Layer (Storage Layer)</a:t>
            </a:r>
            <a:endParaRPr lang="en-IN" dirty="0"/>
          </a:p>
          <a:p>
            <a:r>
              <a:rPr lang="en-IN" dirty="0"/>
              <a:t>Stores charging station data, booking details, and user preferences.</a:t>
            </a:r>
          </a:p>
          <a:p>
            <a:r>
              <a:rPr lang="en-IN" dirty="0"/>
              <a:t>In this project, browser storage (</a:t>
            </a:r>
            <a:r>
              <a:rPr lang="en-IN" dirty="0" err="1"/>
              <a:t>LocalStorage</a:t>
            </a:r>
            <a:r>
              <a:rPr lang="en-IN" dirty="0"/>
              <a:t>) is used to simulate a database.</a:t>
            </a:r>
          </a:p>
          <a:p>
            <a:endParaRPr lang="en-US" dirty="0"/>
          </a:p>
          <a:p>
            <a:endParaRPr lang="en-US" dirty="0"/>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3489011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p:txBody>
          <a:bodyPr>
            <a:normAutofit fontScale="92500" lnSpcReduction="20000"/>
          </a:bodyPr>
          <a:lstStyle/>
          <a:p>
            <a:r>
              <a:rPr lang="en-US" dirty="0"/>
              <a:t>The system is divided into the following modules:</a:t>
            </a:r>
          </a:p>
          <a:p>
            <a:r>
              <a:rPr lang="en-US" b="1" dirty="0"/>
              <a:t>1. User Interface Module</a:t>
            </a:r>
            <a:br>
              <a:rPr lang="en-US" dirty="0"/>
            </a:br>
            <a:r>
              <a:rPr lang="en-US" dirty="0"/>
              <a:t>Provides a user-friendly interface for searching and viewing charging stations.</a:t>
            </a:r>
          </a:p>
          <a:p>
            <a:r>
              <a:rPr lang="en-US" b="1" dirty="0"/>
              <a:t>2. Station Locator Module</a:t>
            </a:r>
            <a:br>
              <a:rPr lang="en-US" dirty="0"/>
            </a:br>
            <a:r>
              <a:rPr lang="en-US" dirty="0"/>
              <a:t>Displays charging stations on the map and calculates nearby stations.</a:t>
            </a:r>
          </a:p>
          <a:p>
            <a:r>
              <a:rPr lang="en-US" b="1" dirty="0"/>
              <a:t>3. Filtering and Search Module</a:t>
            </a:r>
            <a:br>
              <a:rPr lang="en-US" dirty="0"/>
            </a:br>
            <a:r>
              <a:rPr lang="en-US" dirty="0"/>
              <a:t>Allows users to filter stations by power, price, status, and connector type.</a:t>
            </a:r>
          </a:p>
          <a:p>
            <a:r>
              <a:rPr lang="en-US" b="1" dirty="0"/>
              <a:t>4. Booking Module</a:t>
            </a:r>
            <a:br>
              <a:rPr lang="en-US" dirty="0"/>
            </a:br>
            <a:r>
              <a:rPr lang="en-US" dirty="0"/>
              <a:t>Enables users to reserve a charging slot at a selected station.</a:t>
            </a:r>
          </a:p>
          <a:p>
            <a:r>
              <a:rPr lang="en-US" b="1" dirty="0"/>
              <a:t>5. Admin Module</a:t>
            </a:r>
            <a:br>
              <a:rPr lang="en-US" dirty="0"/>
            </a:br>
            <a:r>
              <a:rPr lang="en-US" dirty="0"/>
              <a:t>Allows administrators to add or manage charging station details.</a:t>
            </a:r>
          </a:p>
          <a:p>
            <a:endParaRPr lang="en-US" dirty="0"/>
          </a:p>
          <a:p>
            <a:endParaRPr lang="en-US" dirty="0"/>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4072965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9" name="Content Placeholder 8">
            <a:extLst>
              <a:ext uri="{FF2B5EF4-FFF2-40B4-BE49-F238E27FC236}">
                <a16:creationId xmlns:a16="http://schemas.microsoft.com/office/drawing/2014/main" id="{363C44B8-E8B6-5D9D-90FF-ECD825D72DFC}"/>
              </a:ext>
            </a:extLst>
          </p:cNvPr>
          <p:cNvSpPr>
            <a:spLocks noGrp="1"/>
          </p:cNvSpPr>
          <p:nvPr>
            <p:ph idx="1"/>
          </p:nvPr>
        </p:nvSpPr>
        <p:spPr/>
        <p:txBody>
          <a:bodyPr>
            <a:normAutofit fontScale="85000" lnSpcReduction="10000"/>
          </a:bodyPr>
          <a:lstStyle/>
          <a:p>
            <a:r>
              <a:rPr lang="en-IN" dirty="0"/>
              <a:t>The system follows a </a:t>
            </a:r>
            <a:r>
              <a:rPr lang="en-IN" b="1" dirty="0"/>
              <a:t>three-layer architecture</a:t>
            </a:r>
            <a:r>
              <a:rPr lang="en-IN" dirty="0"/>
              <a:t>:</a:t>
            </a:r>
          </a:p>
          <a:p>
            <a:r>
              <a:rPr lang="en-IN" b="1" dirty="0"/>
              <a:t>1. Presentation Layer (Frontend)</a:t>
            </a:r>
            <a:endParaRPr lang="en-IN" dirty="0"/>
          </a:p>
          <a:p>
            <a:r>
              <a:rPr lang="en-IN" dirty="0"/>
              <a:t>Developed using HTML, CSS, and JavaScript</a:t>
            </a:r>
          </a:p>
          <a:p>
            <a:r>
              <a:rPr lang="en-IN" dirty="0"/>
              <a:t>Provides user interface for searching stations, filtering results, and booking slots.</a:t>
            </a:r>
          </a:p>
          <a:p>
            <a:r>
              <a:rPr lang="en-IN" b="1" dirty="0"/>
              <a:t>2. Application Layer (Logic Layer)</a:t>
            </a:r>
            <a:endParaRPr lang="en-IN" dirty="0"/>
          </a:p>
          <a:p>
            <a:r>
              <a:rPr lang="en-IN" dirty="0"/>
              <a:t>Handles search, filtering, sorting, and station recommendation logic.</a:t>
            </a:r>
          </a:p>
          <a:p>
            <a:r>
              <a:rPr lang="en-IN" dirty="0"/>
              <a:t>Implements algorithms such as Dijkstra's Algorithm for route optimization.</a:t>
            </a:r>
          </a:p>
          <a:p>
            <a:r>
              <a:rPr lang="en-IN" b="1" dirty="0"/>
              <a:t>3. Data Layer (Storage Layer)</a:t>
            </a:r>
            <a:endParaRPr lang="en-IN" dirty="0"/>
          </a:p>
          <a:p>
            <a:r>
              <a:rPr lang="en-IN" dirty="0"/>
              <a:t>Stores charging station data, booking details, and user preferences.</a:t>
            </a:r>
          </a:p>
          <a:p>
            <a:r>
              <a:rPr lang="en-IN" dirty="0"/>
              <a:t>In this project, browser storage (</a:t>
            </a:r>
            <a:r>
              <a:rPr lang="en-IN" dirty="0" err="1"/>
              <a:t>LocalStorage</a:t>
            </a:r>
            <a:r>
              <a:rPr lang="en-IN" dirty="0"/>
              <a:t>) is used to simulate a database.</a:t>
            </a:r>
          </a:p>
          <a:p>
            <a:endParaRPr lang="en-US" dirty="0"/>
          </a:p>
          <a:p>
            <a:endParaRPr lang="en-US" dirty="0"/>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1263985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p:txBody>
          <a:bodyPr>
            <a:normAutofit/>
          </a:bodyPr>
          <a:lstStyle/>
          <a:p>
            <a:pPr marL="0" indent="0">
              <a:buNone/>
            </a:pPr>
            <a:r>
              <a:rPr lang="en-IN" dirty="0"/>
              <a:t>• CO1: Design structured web pages using HTML/CSS → Attained</a:t>
            </a:r>
            <a:br>
              <a:rPr lang="en-IN" dirty="0"/>
            </a:br>
            <a:r>
              <a:rPr lang="en-IN" dirty="0"/>
              <a:t>• CO2: Implement dynamic </a:t>
            </a:r>
            <a:r>
              <a:rPr lang="en-IN" dirty="0" err="1"/>
              <a:t>behavior</a:t>
            </a:r>
            <a:r>
              <a:rPr lang="en-IN" dirty="0"/>
              <a:t> with JavaScript → Attained</a:t>
            </a:r>
            <a:br>
              <a:rPr lang="en-IN" dirty="0"/>
            </a:br>
            <a:r>
              <a:rPr lang="en-IN" dirty="0"/>
              <a:t>• CO3: Manage client-side data using Local Storage → Attained</a:t>
            </a:r>
            <a:br>
              <a:rPr lang="en-IN" dirty="0"/>
            </a:br>
            <a:r>
              <a:rPr lang="en-IN" dirty="0"/>
              <a:t>• CO4: Develop role-based interfaces (viewer/editor) → Attained</a:t>
            </a:r>
            <a:br>
              <a:rPr lang="en-IN" dirty="0"/>
            </a:br>
            <a:r>
              <a:rPr lang="en-IN" dirty="0"/>
              <a:t>• CO5: Handle forms, events, and real-time UI updates → Attained</a:t>
            </a:r>
          </a:p>
          <a:p>
            <a:pPr marL="0" indent="0">
              <a:buNone/>
            </a:pPr>
            <a:endParaRPr lang="en-US" dirty="0"/>
          </a:p>
          <a:p>
            <a:pPr marL="0" indent="0">
              <a:buNone/>
            </a:pPr>
            <a:endParaRPr lang="en-US" dirty="0"/>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1906946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9" name="Content Placeholder 8">
            <a:extLst>
              <a:ext uri="{FF2B5EF4-FFF2-40B4-BE49-F238E27FC236}">
                <a16:creationId xmlns:a16="http://schemas.microsoft.com/office/drawing/2014/main" id="{6726AE93-69A8-DC85-DA45-05F4D66EF996}"/>
              </a:ext>
            </a:extLst>
          </p:cNvPr>
          <p:cNvSpPr>
            <a:spLocks noGrp="1"/>
          </p:cNvSpPr>
          <p:nvPr>
            <p:ph idx="1"/>
          </p:nvPr>
        </p:nvSpPr>
        <p:spPr/>
        <p:txBody>
          <a:bodyPr>
            <a:normAutofit/>
          </a:bodyPr>
          <a:lstStyle/>
          <a:p>
            <a:pPr marL="457200" lvl="1" indent="0">
              <a:buNone/>
            </a:pPr>
            <a:r>
              <a:rPr lang="en-IN" dirty="0"/>
              <a:t> • CO1: Implement linear data structures (array) → Attained</a:t>
            </a:r>
            <a:br>
              <a:rPr lang="en-IN" dirty="0"/>
            </a:br>
            <a:r>
              <a:rPr lang="en-IN" dirty="0"/>
              <a:t>• CO2: Apply searching algorithms (linear search) → Attained</a:t>
            </a:r>
            <a:br>
              <a:rPr lang="en-IN" dirty="0"/>
            </a:br>
            <a:r>
              <a:rPr lang="en-IN" dirty="0"/>
              <a:t>• CO3: Use sorting techniques (bubble sort) → Attained</a:t>
            </a:r>
            <a:br>
              <a:rPr lang="en-IN" dirty="0"/>
            </a:br>
            <a:r>
              <a:rPr lang="en-IN" dirty="0"/>
              <a:t>• CO4: Demonstrate stack operations (LIFO – recent resources) → Attained</a:t>
            </a:r>
            <a:br>
              <a:rPr lang="en-IN" dirty="0"/>
            </a:br>
            <a:r>
              <a:rPr lang="en-IN" dirty="0"/>
              <a:t>• CO5: Demonstrate queue operations (FIFO – requests) → Attained</a:t>
            </a:r>
          </a:p>
          <a:p>
            <a:pPr marL="457200" lvl="1" indent="0">
              <a:buNone/>
            </a:pPr>
            <a:endParaRPr lang="en-IN" dirty="0"/>
          </a:p>
          <a:p>
            <a:pPr marL="0" indent="0">
              <a:buNone/>
            </a:pPr>
            <a:endParaRPr lang="en-US" dirty="0"/>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344365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p:txBody>
          <a:bodyPr/>
          <a:lstStyle/>
          <a:p>
            <a:r>
              <a:rPr lang="en-US" dirty="0"/>
              <a:t>Screenshots for FWD &amp; DSA</a:t>
            </a:r>
          </a:p>
        </p:txBody>
      </p:sp>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7" name="Content Placeholder 7">
            <a:extLst>
              <a:ext uri="{FF2B5EF4-FFF2-40B4-BE49-F238E27FC236}">
                <a16:creationId xmlns:a16="http://schemas.microsoft.com/office/drawing/2014/main" id="{6FC8A0B3-C901-F376-01FA-6598F9042655}"/>
              </a:ext>
            </a:extLst>
          </p:cNvPr>
          <p:cNvPicPr>
            <a:picLocks noChangeAspect="1"/>
          </p:cNvPicPr>
          <p:nvPr/>
        </p:nvPicPr>
        <p:blipFill>
          <a:blip r:embed="rId2"/>
          <a:stretch>
            <a:fillRect/>
          </a:stretch>
        </p:blipFill>
        <p:spPr>
          <a:xfrm>
            <a:off x="967597" y="1572979"/>
            <a:ext cx="4406660" cy="2450540"/>
          </a:xfrm>
          <a:prstGeom prst="rect">
            <a:avLst/>
          </a:prstGeom>
        </p:spPr>
      </p:pic>
      <p:pic>
        <p:nvPicPr>
          <p:cNvPr id="8" name="Content Placeholder 7">
            <a:extLst>
              <a:ext uri="{FF2B5EF4-FFF2-40B4-BE49-F238E27FC236}">
                <a16:creationId xmlns:a16="http://schemas.microsoft.com/office/drawing/2014/main" id="{5AEE97E0-1F76-D1AD-D52B-2B4AA21E8F2B}"/>
              </a:ext>
            </a:extLst>
          </p:cNvPr>
          <p:cNvPicPr>
            <a:picLocks noGrp="1" noChangeAspect="1"/>
          </p:cNvPicPr>
          <p:nvPr>
            <p:ph idx="1"/>
          </p:nvPr>
        </p:nvPicPr>
        <p:blipFill>
          <a:blip r:embed="rId3"/>
          <a:stretch>
            <a:fillRect/>
          </a:stretch>
        </p:blipFill>
        <p:spPr>
          <a:xfrm>
            <a:off x="5875307" y="1514125"/>
            <a:ext cx="4977443" cy="2450540"/>
          </a:xfrm>
          <a:prstGeom prst="rect">
            <a:avLst/>
          </a:prstGeom>
        </p:spPr>
      </p:pic>
      <p:pic>
        <p:nvPicPr>
          <p:cNvPr id="9" name="Picture 8">
            <a:extLst>
              <a:ext uri="{FF2B5EF4-FFF2-40B4-BE49-F238E27FC236}">
                <a16:creationId xmlns:a16="http://schemas.microsoft.com/office/drawing/2014/main" id="{102AEF87-1789-5D32-970A-3BDE6F37069C}"/>
              </a:ext>
            </a:extLst>
          </p:cNvPr>
          <p:cNvPicPr>
            <a:picLocks noChangeAspect="1"/>
          </p:cNvPicPr>
          <p:nvPr/>
        </p:nvPicPr>
        <p:blipFill>
          <a:blip r:embed="rId4"/>
          <a:stretch>
            <a:fillRect/>
          </a:stretch>
        </p:blipFill>
        <p:spPr>
          <a:xfrm>
            <a:off x="967597" y="4176992"/>
            <a:ext cx="4406660" cy="2216057"/>
          </a:xfrm>
          <a:prstGeom prst="rect">
            <a:avLst/>
          </a:prstGeom>
        </p:spPr>
      </p:pic>
      <p:pic>
        <p:nvPicPr>
          <p:cNvPr id="10" name="Picture 9">
            <a:extLst>
              <a:ext uri="{FF2B5EF4-FFF2-40B4-BE49-F238E27FC236}">
                <a16:creationId xmlns:a16="http://schemas.microsoft.com/office/drawing/2014/main" id="{D9BD0B4C-9CA0-6F80-7968-509FAA6D3C34}"/>
              </a:ext>
            </a:extLst>
          </p:cNvPr>
          <p:cNvPicPr>
            <a:picLocks noChangeAspect="1"/>
          </p:cNvPicPr>
          <p:nvPr/>
        </p:nvPicPr>
        <p:blipFill>
          <a:blip r:embed="rId5"/>
          <a:stretch>
            <a:fillRect/>
          </a:stretch>
        </p:blipFill>
        <p:spPr>
          <a:xfrm>
            <a:off x="5875306" y="4140293"/>
            <a:ext cx="4977443" cy="2252756"/>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p:txBody>
          <a:bodyPr>
            <a:normAutofit lnSpcReduction="10000"/>
          </a:bodyPr>
          <a:lstStyle/>
          <a:p>
            <a:pPr marL="0" indent="0">
              <a:buNone/>
            </a:pPr>
            <a:r>
              <a:rPr lang="en-US"/>
              <a:t>The </a:t>
            </a:r>
            <a:r>
              <a:rPr lang="en-US" b="1"/>
              <a:t>EV Charging Station Locator System</a:t>
            </a:r>
            <a:r>
              <a:rPr lang="en-US"/>
              <a:t> project provides a smart and efficient solution for helping electric vehicle users find nearby charging stations quickly. The system allows users to view station locations, check important details such as charging power, price, and availability, and filter stations based on their needs. Map visualization using Leaflet improves user experience by clearly displaying station locations.</a:t>
            </a:r>
          </a:p>
          <a:p>
            <a:pPr marL="0" indent="0">
              <a:buNone/>
            </a:pPr>
            <a:r>
              <a:rPr lang="en-US"/>
              <a:t>By implementing search, filtering, and AI-based recommendation features, the system reduces the time and effort required for EV users to locate suitable charging stations. The project also demonstrates the practical use of web technologies such as HTML, CSS, JavaScript, and browser storage to build a functional real-world application.</a:t>
            </a:r>
          </a:p>
          <a:p>
            <a:pPr marL="0" indent="0">
              <a:buNone/>
            </a:pPr>
            <a:endParaRPr lang="en-US" dirty="0"/>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2858912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Geo- Tag Photos</a:t>
            </a:r>
          </a:p>
        </p:txBody>
      </p:sp>
      <p:sp>
        <p:nvSpPr>
          <p:cNvPr id="3" name="Content Placeholder 2">
            <a:extLst>
              <a:ext uri="{FF2B5EF4-FFF2-40B4-BE49-F238E27FC236}">
                <a16:creationId xmlns:a16="http://schemas.microsoft.com/office/drawing/2014/main" id="{81383DFD-4145-46B6-BA5B-4C9D68B54059}"/>
              </a:ext>
            </a:extLst>
          </p:cNvPr>
          <p:cNvSpPr>
            <a:spLocks noGrp="1"/>
          </p:cNvSpPr>
          <p:nvPr>
            <p:ph idx="1"/>
          </p:nvPr>
        </p:nvSpPr>
        <p:spPr/>
        <p:txBody>
          <a:bodyPr>
            <a:normAutofit/>
          </a:bodyPr>
          <a:lstStyle/>
          <a:p>
            <a:pPr marL="0" marR="0" lvl="0" indent="0" algn="just">
              <a:spcBef>
                <a:spcPts val="0"/>
              </a:spcBef>
              <a:spcAft>
                <a:spcPts val="0"/>
              </a:spcAft>
              <a:buNone/>
              <a:tabLst>
                <a:tab pos="228600" algn="l"/>
                <a:tab pos="228600" algn="l"/>
                <a:tab pos="282575" algn="l"/>
                <a:tab pos="339725" algn="l"/>
              </a:tabLst>
            </a:pPr>
            <a:r>
              <a:rPr lang="en-US" dirty="0"/>
              <a:t>.</a:t>
            </a:r>
          </a:p>
        </p:txBody>
      </p:sp>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14</a:t>
            </a:fld>
            <a:endParaRPr lang="en-US"/>
          </a:p>
        </p:txBody>
      </p:sp>
      <p:sp>
        <p:nvSpPr>
          <p:cNvPr id="7" name="Title 1">
            <a:extLst>
              <a:ext uri="{FF2B5EF4-FFF2-40B4-BE49-F238E27FC236}">
                <a16:creationId xmlns:a16="http://schemas.microsoft.com/office/drawing/2014/main" id="{08C6718F-8EFA-793A-1FAA-B69657398439}"/>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Geo- Tag Photos</a:t>
            </a:r>
            <a:endParaRPr lang="en-US" dirty="0"/>
          </a:p>
        </p:txBody>
      </p:sp>
      <p:pic>
        <p:nvPicPr>
          <p:cNvPr id="8" name="Content Placeholder 15">
            <a:extLst>
              <a:ext uri="{FF2B5EF4-FFF2-40B4-BE49-F238E27FC236}">
                <a16:creationId xmlns:a16="http://schemas.microsoft.com/office/drawing/2014/main" id="{84C70195-DB9F-FA2F-6236-C3FC596840EB}"/>
              </a:ext>
            </a:extLst>
          </p:cNvPr>
          <p:cNvPicPr>
            <a:picLocks noChangeAspect="1"/>
          </p:cNvPicPr>
          <p:nvPr/>
        </p:nvPicPr>
        <p:blipFill>
          <a:blip r:embed="rId2"/>
          <a:stretch>
            <a:fillRect/>
          </a:stretch>
        </p:blipFill>
        <p:spPr>
          <a:xfrm>
            <a:off x="592188" y="1870075"/>
            <a:ext cx="3446412" cy="3211497"/>
          </a:xfrm>
          <a:prstGeom prst="rect">
            <a:avLst/>
          </a:prstGeom>
        </p:spPr>
      </p:pic>
      <p:sp>
        <p:nvSpPr>
          <p:cNvPr id="9" name="Date Placeholder 3">
            <a:extLst>
              <a:ext uri="{FF2B5EF4-FFF2-40B4-BE49-F238E27FC236}">
                <a16:creationId xmlns:a16="http://schemas.microsoft.com/office/drawing/2014/main" id="{AE1ABC23-0832-7AC1-4D0C-8BFCB6AD3B50}"/>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272DB-0103-AF4C-A22D-07421EC406AD}" type="datetime1">
              <a:rPr lang="en-IN" smtClean="0"/>
              <a:pPr/>
              <a:t>09-03-2026</a:t>
            </a:fld>
            <a:endParaRPr lang="en-US"/>
          </a:p>
        </p:txBody>
      </p:sp>
      <p:sp>
        <p:nvSpPr>
          <p:cNvPr id="10" name="Footer Placeholder 4">
            <a:extLst>
              <a:ext uri="{FF2B5EF4-FFF2-40B4-BE49-F238E27FC236}">
                <a16:creationId xmlns:a16="http://schemas.microsoft.com/office/drawing/2014/main" id="{8AECC689-DF49-42D5-92AB-9178A9D6D8CD}"/>
              </a:ext>
            </a:extLst>
          </p:cNvPr>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173030211           Department of CSE</a:t>
            </a:r>
            <a:endParaRPr lang="en-US" dirty="0"/>
          </a:p>
        </p:txBody>
      </p:sp>
      <p:sp>
        <p:nvSpPr>
          <p:cNvPr id="11" name="Slide Number Placeholder 5">
            <a:extLst>
              <a:ext uri="{FF2B5EF4-FFF2-40B4-BE49-F238E27FC236}">
                <a16:creationId xmlns:a16="http://schemas.microsoft.com/office/drawing/2014/main" id="{86B8E67C-4283-B887-EDA2-F32A84163FB0}"/>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961B71F-4B40-8942-BB88-E0F5C0B46E10}" type="slidenum">
              <a:rPr lang="en-US" smtClean="0"/>
              <a:pPr/>
              <a:t>14</a:t>
            </a:fld>
            <a:endParaRPr lang="en-US"/>
          </a:p>
        </p:txBody>
      </p:sp>
      <p:pic>
        <p:nvPicPr>
          <p:cNvPr id="12" name="Picture 11">
            <a:extLst>
              <a:ext uri="{FF2B5EF4-FFF2-40B4-BE49-F238E27FC236}">
                <a16:creationId xmlns:a16="http://schemas.microsoft.com/office/drawing/2014/main" id="{5BB03A09-D492-EE30-FB3C-6FB6A2CB99B2}"/>
              </a:ext>
            </a:extLst>
          </p:cNvPr>
          <p:cNvPicPr>
            <a:picLocks noChangeAspect="1"/>
          </p:cNvPicPr>
          <p:nvPr/>
        </p:nvPicPr>
        <p:blipFill>
          <a:blip r:embed="rId3"/>
          <a:stretch>
            <a:fillRect/>
          </a:stretch>
        </p:blipFill>
        <p:spPr>
          <a:xfrm>
            <a:off x="4284612" y="1914921"/>
            <a:ext cx="3530602" cy="3121804"/>
          </a:xfrm>
          <a:prstGeom prst="rect">
            <a:avLst/>
          </a:prstGeom>
        </p:spPr>
      </p:pic>
      <p:pic>
        <p:nvPicPr>
          <p:cNvPr id="13" name="Picture 12">
            <a:extLst>
              <a:ext uri="{FF2B5EF4-FFF2-40B4-BE49-F238E27FC236}">
                <a16:creationId xmlns:a16="http://schemas.microsoft.com/office/drawing/2014/main" id="{17F83AAD-6E53-FC9C-5C56-749333281845}"/>
              </a:ext>
            </a:extLst>
          </p:cNvPr>
          <p:cNvPicPr>
            <a:picLocks noChangeAspect="1"/>
          </p:cNvPicPr>
          <p:nvPr/>
        </p:nvPicPr>
        <p:blipFill>
          <a:blip r:embed="rId4"/>
          <a:stretch>
            <a:fillRect/>
          </a:stretch>
        </p:blipFill>
        <p:spPr>
          <a:xfrm>
            <a:off x="8153400" y="1914585"/>
            <a:ext cx="3441459" cy="3121804"/>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15</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3711</TotalTime>
  <Words>1161</Words>
  <Application>Microsoft Office PowerPoint</Application>
  <PresentationFormat>Widescreen</PresentationFormat>
  <Paragraphs>134</Paragraphs>
  <Slides>15</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15</vt:i4>
      </vt:variant>
    </vt:vector>
  </HeadingPairs>
  <TitlesOfParts>
    <vt:vector size="21" baseType="lpstr">
      <vt:lpstr>Google Sans</vt:lpstr>
      <vt:lpstr>Arial</vt:lpstr>
      <vt:lpstr>Calibri</vt:lpstr>
      <vt:lpstr>Calibri Light</vt:lpstr>
      <vt:lpstr>Office Theme</vt:lpstr>
      <vt:lpstr>Custom Design</vt:lpstr>
      <vt:lpstr>INSTRUCTIONS</vt:lpstr>
      <vt:lpstr>Title: EV Charging Station Locator</vt:lpstr>
      <vt:lpstr>OUTLINE</vt:lpstr>
      <vt:lpstr>Abstract</vt:lpstr>
      <vt:lpstr>Existing System </vt:lpstr>
      <vt:lpstr>Proposed System</vt:lpstr>
      <vt:lpstr>System Architecture</vt:lpstr>
      <vt:lpstr>Project Modules</vt:lpstr>
      <vt:lpstr>Objectives</vt:lpstr>
      <vt:lpstr>Co’s Attainments - FWD</vt:lpstr>
      <vt:lpstr>Co’s Attainments - DSA</vt:lpstr>
      <vt:lpstr>Screenshots for FWD &amp; DSA</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sai nath reddy</cp:lastModifiedBy>
  <cp:revision>54</cp:revision>
  <dcterms:created xsi:type="dcterms:W3CDTF">2022-05-20T10:20:31Z</dcterms:created>
  <dcterms:modified xsi:type="dcterms:W3CDTF">2026-03-09T09:26:59Z</dcterms:modified>
</cp:coreProperties>
</file>